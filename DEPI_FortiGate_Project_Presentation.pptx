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Interfaces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VLAN list + DHCP ranges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Zone members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screenshots: User Groups &amp; Users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SSL‑VPN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SSL‑VPN Portal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Authentication/Portal Mapping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SSL‑VPN policy row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screenshots: IPsec tunnel edit pages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Firewall Policy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SD‑WAN zones/members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SD‑WAN Rules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screenshot: Performance SLAs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screenshots: HA cluster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FortiGate Secure Connectivity &amp; High Availability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DEPI – Egypt Digital Initiative | Fortinet Cybersecurity Engineer Track</a:t>
            </a:r>
          </a:p>
          <a:p>
            <a:r>
              <a:t>Group: R3_DEPI3_ONL3_ISS8_S2</a:t>
            </a:r>
          </a:p>
          <a:p>
            <a:r>
              <a:t>Team: Shahd Yesen Salah Abdelmoamen | Mohamed Ahmed Mohamed Haridy | Merna Medhat Hamdy Rabia | Nada Ahmed Abo-Bakr Abdelnaser | Jana Hany Salah Eldin | Shams Ibrahem Ali Mohamed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Project Overview &amp; Objectives</a:t>
            </a:r>
          </a:p>
          <a:p>
            <a:pPr>
              <a:defRPr sz="2000"/>
            </a:pPr>
            <a:r>
              <a:t>Network Design (Interfaces, VLANs, Zones)</a:t>
            </a:r>
          </a:p>
          <a:p>
            <a:pPr>
              <a:defRPr sz="2000"/>
            </a:pPr>
            <a:r>
              <a:t>User Authentication &amp; Groups</a:t>
            </a:r>
          </a:p>
          <a:p>
            <a:pPr>
              <a:defRPr sz="2000"/>
            </a:pPr>
            <a:r>
              <a:t>SSL‑VPN Configuration</a:t>
            </a:r>
          </a:p>
          <a:p>
            <a:pPr>
              <a:defRPr sz="2000"/>
            </a:pPr>
            <a:r>
              <a:t>SSL‑VPN Portal &amp; Mapping</a:t>
            </a:r>
          </a:p>
          <a:p>
            <a:pPr>
              <a:defRPr sz="2000"/>
            </a:pPr>
            <a:r>
              <a:t>Firewall Policies for VPN</a:t>
            </a:r>
          </a:p>
          <a:p>
            <a:pPr>
              <a:defRPr sz="2000"/>
            </a:pPr>
            <a:r>
              <a:t>IPsec Site‑to‑Site Tunnels</a:t>
            </a:r>
          </a:p>
          <a:p>
            <a:pPr>
              <a:defRPr sz="2000"/>
            </a:pPr>
            <a:r>
              <a:t>SD‑WAN &amp; Performance SLAs</a:t>
            </a:r>
          </a:p>
          <a:p>
            <a:pPr>
              <a:defRPr sz="2000"/>
            </a:pPr>
            <a:r>
              <a:t>High Availability (HA Cluster)</a:t>
            </a:r>
          </a:p>
          <a:p>
            <a:pPr>
              <a:defRPr sz="2000"/>
            </a:pPr>
            <a:r>
              <a:t>Results, Benefits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Organizations need secure remote access, reliable branch communication, and zero‑downtime continuity.</a:t>
            </a:r>
          </a:p>
          <a:p>
            <a:pPr>
              <a:defRPr sz="2000"/>
            </a:pPr>
            <a:r>
              <a:t>Our solution combines:</a:t>
            </a:r>
          </a:p>
          <a:p>
            <a:pPr lvl="1">
              <a:defRPr sz="2000"/>
            </a:pPr>
            <a:r>
              <a:t>SSL‑VPN for remote users</a:t>
            </a:r>
          </a:p>
          <a:p>
            <a:pPr lvl="1">
              <a:defRPr sz="2000"/>
            </a:pPr>
            <a:r>
              <a:t>IPsec Site‑to‑Site for branch connectivity</a:t>
            </a:r>
          </a:p>
          <a:p>
            <a:pPr lvl="1">
              <a:defRPr sz="2000"/>
            </a:pPr>
            <a:r>
              <a:t>SD‑WAN for intelligent path selection</a:t>
            </a:r>
          </a:p>
          <a:p>
            <a:pPr lvl="1">
              <a:defRPr sz="2000"/>
            </a:pPr>
            <a:r>
              <a:t>HA Active‑Passive for service uptime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Security Goals:</a:t>
            </a:r>
          </a:p>
          <a:p>
            <a:pPr lvl="1">
              <a:defRPr sz="2000"/>
            </a:pPr>
            <a:r>
              <a:t>Encrypt remote and inter‑branch traffic</a:t>
            </a:r>
          </a:p>
          <a:p>
            <a:pPr lvl="1">
              <a:defRPr sz="2000"/>
            </a:pPr>
            <a:r>
              <a:t>Group‑based access control</a:t>
            </a:r>
          </a:p>
          <a:p>
            <a:pPr lvl="1">
              <a:defRPr sz="2000"/>
            </a:pPr>
            <a:r>
              <a:t>Department segmentation (Least Privilege)</a:t>
            </a:r>
          </a:p>
          <a:p>
            <a:pPr>
              <a:defRPr sz="2000"/>
            </a:pPr>
            <a:r>
              <a:t>Operational Goals:</a:t>
            </a:r>
          </a:p>
          <a:p>
            <a:pPr lvl="1">
              <a:defRPr sz="2000"/>
            </a:pPr>
            <a:r>
              <a:t>Easy onboarding &amp; centralized management</a:t>
            </a:r>
          </a:p>
          <a:p>
            <a:pPr lvl="1">
              <a:defRPr sz="2000"/>
            </a:pPr>
            <a:r>
              <a:t>Automatic failover without interruption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HQ Interfaces, VLANs &amp;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HQ Interfaces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 (port1): 192.168.126.243/24 | Admin: PING/HTTPS/SSH/HTTP</a:t>
            </a:r>
          </a:p>
          <a:p>
            <a:pPr>
              <a:defRPr sz="2000"/>
            </a:pPr>
            <a:r>
              <a:t>WAN (port3) and port4: External / branch links</a:t>
            </a:r>
          </a:p>
          <a:p>
            <a:pPr>
              <a:defRPr sz="2000"/>
            </a:pPr>
            <a:r>
              <a:t>port5 &amp; port6: HA heartbeat interfaces</a:t>
            </a:r>
          </a:p>
          <a:p>
            <a:pPr>
              <a:defRPr sz="2000"/>
            </a:pPr>
            <a:r>
              <a:t>Role separation ensures clarity, security, and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VLAN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VLAN10: 172.16.10.1/24  (Management)</a:t>
            </a:r>
          </a:p>
          <a:p>
            <a:pPr>
              <a:defRPr sz="2000"/>
            </a:pPr>
            <a:r>
              <a:t>VLAN20: 172.16.20.1/24  (HR)</a:t>
            </a:r>
          </a:p>
          <a:p>
            <a:pPr>
              <a:defRPr sz="2000"/>
            </a:pPr>
            <a:r>
              <a:t>VLAN30: 172.16.30.1/24  (IT)</a:t>
            </a:r>
          </a:p>
          <a:p>
            <a:pPr>
              <a:defRPr sz="2000"/>
            </a:pPr>
            <a:r>
              <a:t>VLAN40: 172.16.40.1/24  (Finance)</a:t>
            </a:r>
          </a:p>
          <a:p>
            <a:pPr>
              <a:defRPr sz="2000"/>
            </a:pPr>
            <a:r>
              <a:t>VLAN50: 172.16.50.1/24  (Sales)</a:t>
            </a:r>
          </a:p>
          <a:p>
            <a:pPr>
              <a:defRPr sz="2000"/>
            </a:pPr>
            <a:r>
              <a:t>Each VLAN has independent DHCP range (x.2 – x.254).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Zone name: br</a:t>
            </a:r>
          </a:p>
          <a:p>
            <a:pPr>
              <a:defRPr sz="2000"/>
            </a:pPr>
            <a:r>
              <a:t>Members: VLAN10, VLAN20, VLAN30, VLAN40, VLAN50</a:t>
            </a:r>
          </a:p>
          <a:p>
            <a:pPr>
              <a:defRPr sz="2000"/>
            </a:pPr>
            <a:r>
              <a:t>Benefits:</a:t>
            </a:r>
          </a:p>
          <a:p>
            <a:pPr lvl="1">
              <a:defRPr sz="2000"/>
            </a:pPr>
            <a:r>
              <a:t>Centralized policies across departments</a:t>
            </a:r>
          </a:p>
          <a:p>
            <a:pPr lvl="1">
              <a:defRPr sz="2000"/>
            </a:pPr>
            <a:r>
              <a:t>Cleaner rules &amp; easy scaling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&amp; Connectivity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Users, SSL‑VPN, IPsec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Authentication &amp;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Groups created: Guest‑group, SSO_Guest_Users (FSSO), ssl_vpn_users</a:t>
            </a:r>
          </a:p>
          <a:p>
            <a:pPr>
              <a:defRPr sz="2000"/>
            </a:pPr>
            <a:r>
              <a:t>Users:</a:t>
            </a:r>
          </a:p>
          <a:p>
            <a:pPr lvl="1">
              <a:defRPr sz="2000"/>
            </a:pPr>
            <a:r>
              <a:t>guest → Guest‑group</a:t>
            </a:r>
          </a:p>
          <a:p>
            <a:pPr lvl="1">
              <a:defRPr sz="2000"/>
            </a:pPr>
            <a:r>
              <a:t>vpn_user → ssl_vpn_users</a:t>
            </a:r>
          </a:p>
          <a:p>
            <a:pPr>
              <a:defRPr sz="2000"/>
            </a:pPr>
            <a:r>
              <a:t>All users are enabled.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SSL‑VPN Core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SSL‑VPN enabled on LAN (port1)</a:t>
            </a:r>
          </a:p>
          <a:p>
            <a:pPr>
              <a:defRPr sz="2000"/>
            </a:pPr>
            <a:r>
              <a:t>Listening port: 10443</a:t>
            </a:r>
          </a:p>
          <a:p>
            <a:pPr>
              <a:defRPr sz="2000"/>
            </a:pPr>
            <a:r>
              <a:t>Server certificate: Fortinet_Factory (to be replaced by trusted CA later)</a:t>
            </a:r>
          </a:p>
          <a:p>
            <a:pPr>
              <a:defRPr sz="2000"/>
            </a:pPr>
            <a:r>
              <a:t>Idle logout: 3000 sec | Allow access from any host</a:t>
            </a:r>
          </a:p>
          <a:p>
            <a:pPr>
              <a:defRPr sz="2000"/>
            </a:pPr>
            <a:r>
              <a:t>Client IP pool: SSLVPN_TUNNEL_ADDR1</a:t>
            </a:r>
          </a:p>
          <a:p>
            <a:pPr lvl="1">
              <a:defRPr sz="2000"/>
            </a:pPr>
            <a:r>
              <a:t>10.212.134.200 – 10.212.134.210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SSL‑VPN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Portal name: full‑access</a:t>
            </a:r>
          </a:p>
          <a:p>
            <a:pPr>
              <a:defRPr sz="2000"/>
            </a:pPr>
            <a:r>
              <a:t>Tunnel mode: Enabled</a:t>
            </a:r>
          </a:p>
          <a:p>
            <a:pPr>
              <a:defRPr sz="2000"/>
            </a:pPr>
            <a:r>
              <a:t>Split tunneling: Disabled (Full Tunnel)</a:t>
            </a:r>
          </a:p>
          <a:p>
            <a:pPr>
              <a:defRPr sz="2000"/>
            </a:pPr>
            <a:r>
              <a:t>Source IP pool: SSLVPN_TUNNEL_ADDR1</a:t>
            </a:r>
          </a:p>
          <a:p>
            <a:pPr>
              <a:defRPr sz="2000"/>
            </a:pPr>
            <a:r>
              <a:t>All client traffic is routed securely through VPN.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Portal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ssl_vpn_users  → full‑access</a:t>
            </a:r>
          </a:p>
          <a:p>
            <a:pPr>
              <a:defRPr sz="2000"/>
            </a:pPr>
            <a:r>
              <a:t>All other users/groups → full‑access</a:t>
            </a:r>
          </a:p>
          <a:p>
            <a:pPr>
              <a:defRPr sz="2000"/>
            </a:pPr>
            <a:r>
              <a:t>Unified access experience and simplified administration.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SSL‑VPN Firewall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Policy: ssl.root → LAN(port1)</a:t>
            </a:r>
          </a:p>
          <a:p>
            <a:pPr>
              <a:defRPr sz="2000"/>
            </a:pPr>
            <a:r>
              <a:t>Source: ssl_vpn_users / ssl_vpn</a:t>
            </a:r>
          </a:p>
          <a:p>
            <a:pPr>
              <a:defRPr sz="2000"/>
            </a:pPr>
            <a:r>
              <a:t>Destination: LAN</a:t>
            </a:r>
          </a:p>
          <a:p>
            <a:pPr>
              <a:defRPr sz="2000"/>
            </a:pPr>
            <a:r>
              <a:t>Service: ALL | Schedule: always</a:t>
            </a:r>
          </a:p>
          <a:p>
            <a:pPr>
              <a:defRPr sz="2000"/>
            </a:pPr>
            <a:r>
              <a:t>Action: ACCEPT | Security profiles: default / deep‑inspection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IPsec Site‑to‑Site Tunnels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Tunnel 1: f1 to f3</a:t>
            </a:r>
          </a:p>
          <a:p>
            <a:pPr lvl="1">
              <a:defRPr sz="2000"/>
            </a:pPr>
            <a:r>
              <a:t>Remote GW: 209.64.2.2 via port4</a:t>
            </a:r>
          </a:p>
          <a:p>
            <a:pPr lvl="1">
              <a:defRPr sz="2000"/>
            </a:pPr>
            <a:r>
              <a:t>IKEv1 Main Mode, PSK authentication</a:t>
            </a:r>
          </a:p>
          <a:p>
            <a:pPr lvl="1">
              <a:defRPr sz="2000"/>
            </a:pPr>
            <a:r>
              <a:t>Phase‑1: DES‑MD5, DES‑SHA1 | DH groups 14, 5</a:t>
            </a:r>
          </a:p>
          <a:p>
            <a:pPr>
              <a:defRPr sz="2000"/>
            </a:pPr>
            <a:r>
              <a:t>Tunnel 2: f12 to f3</a:t>
            </a:r>
          </a:p>
          <a:p>
            <a:pPr lvl="1">
              <a:defRPr sz="2000"/>
            </a:pPr>
            <a:r>
              <a:t>Remote GW: 209.64.4.2 via port3</a:t>
            </a:r>
          </a:p>
          <a:p>
            <a:pPr lvl="1">
              <a:defRPr sz="2000"/>
            </a:pPr>
            <a:r>
              <a:t>Same crypto + selectors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/ Inter‑VLAN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Core VPN policies (NAT disabled):</a:t>
            </a:r>
          </a:p>
          <a:p>
            <a:pPr lvl="1">
              <a:defRPr sz="2000"/>
            </a:pPr>
            <a:r>
              <a:t>lan_vpn: port2 → vpn (ACCEPT)</a:t>
            </a:r>
          </a:p>
          <a:p>
            <a:pPr lvl="1">
              <a:defRPr sz="2000"/>
            </a:pPr>
            <a:r>
              <a:t>wan_vpn: vpn → port2 (ACCEPT)</a:t>
            </a:r>
          </a:p>
          <a:p>
            <a:pPr>
              <a:defRPr sz="2000"/>
            </a:pPr>
            <a:r>
              <a:t>Department‑to‑department least‑privilege rules:</a:t>
            </a:r>
          </a:p>
          <a:p>
            <a:pPr lvl="1">
              <a:defRPr sz="2000"/>
            </a:pPr>
            <a:r>
              <a:t>mgmt ↔ mgmt, hr ↔ hr, it ↔ it, fin ↔ fin, sales ↔ sales</a:t>
            </a:r>
          </a:p>
          <a:p>
            <a:pPr>
              <a:defRPr sz="2000"/>
            </a:pPr>
            <a:r>
              <a:t>Each VLAN reaches only its matching remote subnet.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SD‑WAN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Smart Routing &amp; SLAs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SD‑WAN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SD‑WAN enabled with 2 members:</a:t>
            </a:r>
          </a:p>
          <a:p>
            <a:pPr lvl="1">
              <a:defRPr sz="2000"/>
            </a:pPr>
            <a:r>
              <a:t>vpn</a:t>
            </a:r>
          </a:p>
          <a:p>
            <a:pPr lvl="1">
              <a:defRPr sz="2000"/>
            </a:pPr>
            <a:r>
              <a:t>vpn_tunnel_3</a:t>
            </a:r>
          </a:p>
          <a:p>
            <a:pPr>
              <a:defRPr sz="2000"/>
            </a:pPr>
            <a:r>
              <a:t>Provides redundant and balanced transport between sites.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SD‑WAN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Default implicit rule:</a:t>
            </a:r>
          </a:p>
          <a:p>
            <a:pPr lvl="1">
              <a:defRPr sz="2000"/>
            </a:pPr>
            <a:r>
              <a:t>Source: all | Destination: all</a:t>
            </a:r>
          </a:p>
          <a:p>
            <a:pPr lvl="1">
              <a:defRPr sz="2000"/>
            </a:pPr>
            <a:r>
              <a:t>Criteria: Source IP | Member: any</a:t>
            </a:r>
          </a:p>
          <a:p>
            <a:pPr>
              <a:defRPr sz="2000"/>
            </a:pPr>
            <a:r>
              <a:t>Allows dynamic best‑path selection.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Health checks configured for:</a:t>
            </a:r>
          </a:p>
          <a:p>
            <a:pPr lvl="1">
              <a:defRPr sz="2000"/>
            </a:pPr>
            <a:r>
              <a:t>Default_DNS (8.8.8.8 / 8.8.4.4)</a:t>
            </a:r>
          </a:p>
          <a:p>
            <a:pPr lvl="1">
              <a:defRPr sz="2000"/>
            </a:pPr>
            <a:r>
              <a:t>FortiGuard, Gmail, Google Search, Office365</a:t>
            </a:r>
          </a:p>
          <a:p>
            <a:pPr>
              <a:defRPr sz="2000"/>
            </a:pPr>
            <a:r>
              <a:t>Thresholds drive automatic rerouting to best link.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Availability (HA)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 Continuity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 Active‑Passive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Mode: Active‑Passive | Priority: 200</a:t>
            </a:r>
          </a:p>
          <a:p>
            <a:pPr>
              <a:defRPr sz="2000"/>
            </a:pPr>
            <a:r>
              <a:t>Monitored interfaces: port1, port2, port3, port4</a:t>
            </a:r>
          </a:p>
          <a:p>
            <a:pPr>
              <a:defRPr sz="2000"/>
            </a:pPr>
            <a:r>
              <a:t>Heartbeat: port5, port6 (50/50)</a:t>
            </a:r>
          </a:p>
          <a:p>
            <a:pPr>
              <a:defRPr sz="2000"/>
            </a:pPr>
            <a:r>
              <a:t>Session pickup enabled for seamless failover.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Benefits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Secure full‑tunnel remote access to HQ via SSL‑VPN</a:t>
            </a:r>
          </a:p>
          <a:p>
            <a:pPr>
              <a:defRPr sz="2000"/>
            </a:pPr>
            <a:r>
              <a:t>Redundant IPsec tunnels between sites</a:t>
            </a:r>
          </a:p>
          <a:p>
            <a:pPr>
              <a:defRPr sz="2000"/>
            </a:pPr>
            <a:r>
              <a:t>Smart routing with SD‑WAN + SLAs</a:t>
            </a:r>
          </a:p>
          <a:p>
            <a:pPr>
              <a:defRPr sz="2000"/>
            </a:pPr>
            <a:r>
              <a:t>Department isolation via VLANs &amp; zone policies</a:t>
            </a:r>
          </a:p>
          <a:p>
            <a:pPr>
              <a:defRPr sz="2000"/>
            </a:pPr>
            <a:r>
              <a:t>Continuous service ensured by HA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Security: Encrypted links, least‑privilege access, strong segmentation.</a:t>
            </a:r>
          </a:p>
          <a:p>
            <a:pPr>
              <a:defRPr sz="2000"/>
            </a:pPr>
            <a:r>
              <a:t>Performance &amp; Reliability: SD‑WAN chooses optimal paths, HA prevents downtime.</a:t>
            </a:r>
          </a:p>
          <a:p>
            <a:pPr>
              <a:defRPr sz="2000"/>
            </a:pPr>
            <a:r>
              <a:t>Scalability: Easy to add VLANs, users, and new branches.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Challenges:</a:t>
            </a:r>
          </a:p>
          <a:p>
            <a:pPr lvl="1">
              <a:defRPr sz="2000"/>
            </a:pPr>
            <a:r>
              <a:t>Matching Phase‑2 selectors across sites</a:t>
            </a:r>
          </a:p>
          <a:p>
            <a:pPr lvl="1">
              <a:defRPr sz="2000"/>
            </a:pPr>
            <a:r>
              <a:t>Aligning policies with VLAN segmentation</a:t>
            </a:r>
          </a:p>
          <a:p>
            <a:pPr lvl="1">
              <a:defRPr sz="2000"/>
            </a:pPr>
            <a:r>
              <a:t>Avoid NAT over IPsec links</a:t>
            </a:r>
          </a:p>
          <a:p>
            <a:pPr>
              <a:defRPr sz="2000"/>
            </a:pPr>
            <a:r>
              <a:t>Mitigations:</a:t>
            </a:r>
          </a:p>
          <a:p>
            <a:pPr lvl="1">
              <a:defRPr sz="2000"/>
            </a:pPr>
            <a:r>
              <a:t>Standardized naming and configs</a:t>
            </a:r>
          </a:p>
          <a:p>
            <a:pPr lvl="1">
              <a:defRPr sz="2000"/>
            </a:pPr>
            <a:r>
              <a:t>Zone‑based policies</a:t>
            </a:r>
          </a:p>
          <a:p>
            <a:pPr lvl="1">
              <a:defRPr sz="2000"/>
            </a:pPr>
            <a:r>
              <a:t>NAT disabled for S2S traffic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Replace default SSL cert with trusted CA</a:t>
            </a:r>
          </a:p>
          <a:p>
            <a:pPr>
              <a:defRPr sz="2000"/>
            </a:pPr>
            <a:r>
              <a:t>Enable MFA for VPN users</a:t>
            </a:r>
          </a:p>
          <a:p>
            <a:pPr>
              <a:defRPr sz="2000"/>
            </a:pPr>
            <a:r>
              <a:t>Add application‑based SD‑WAN rules</a:t>
            </a:r>
          </a:p>
          <a:p>
            <a:pPr>
              <a:defRPr sz="2000"/>
            </a:pPr>
            <a:r>
              <a:t>Central management via FortiManager</a:t>
            </a:r>
          </a:p>
          <a:p>
            <a:pPr>
              <a:defRPr sz="2000"/>
            </a:pPr>
            <a:r>
              <a:t>Log analytics via FortiAnalyzer / SIEM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complete enterprise‑ready FortiGate deployment delivered:</a:t>
            </a:r>
          </a:p>
          <a:p>
            <a:pPr lvl="1">
              <a:defRPr sz="2000"/>
            </a:pPr>
            <a:r>
              <a:t>Remote access ✅</a:t>
            </a:r>
          </a:p>
          <a:p>
            <a:pPr lvl="1">
              <a:defRPr sz="2000"/>
            </a:pPr>
            <a:r>
              <a:t>Branch connectivity ✅</a:t>
            </a:r>
          </a:p>
          <a:p>
            <a:pPr lvl="1">
              <a:defRPr sz="2000"/>
            </a:pPr>
            <a:r>
              <a:t>Smart routing ✅</a:t>
            </a:r>
          </a:p>
          <a:p>
            <a:pPr lvl="1">
              <a:defRPr sz="2000"/>
            </a:pPr>
            <a:r>
              <a:t>High availability ✅</a:t>
            </a:r>
          </a:p>
          <a:p>
            <a:pPr>
              <a:defRPr sz="2000"/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